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731520"/>
            <a:ext cx="9144000" cy="0"/>
          </a:xfrm>
          <a:prstGeom prst="line">
            <a:avLst/>
          </a:prstGeom>
          <a:noFill/>
          <a:ln w="25400">
            <a:solidFill>
              <a:srgbClr val="00F0FF">
                <a:alpha val="5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164592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MARCUS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0" y="25603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Citation Integrity Platform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0" y="43891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Research Consensus for Production AI Systems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0" y="274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00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v3.2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0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1097280"/>
          </a:xfrm>
          <a:prstGeom prst="rect">
            <a:avLst/>
          </a:prstGeom>
          <a:solidFill>
            <a:srgbClr val="FF0040">
              <a:alpha val="5000"/>
            </a:srgbClr>
          </a:solidFill>
          <a:ln w="12700">
            <a:solidFill>
              <a:srgbClr val="FF0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0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67%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citations are hallucinated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3840480" cy="1097280"/>
          </a:xfrm>
          <a:prstGeom prst="rect">
            <a:avLst/>
          </a:prstGeom>
          <a:solidFill>
            <a:srgbClr val="FF0040">
              <a:alpha val="5000"/>
            </a:srgbClr>
          </a:solidFill>
          <a:ln w="12700">
            <a:solidFill>
              <a:srgbClr val="FF00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0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$2.3M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5029200" y="17373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cost of misinformation incident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560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Single-agent verification fails at scale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2926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No consensus mechanism for citation accuracy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Manual review bottlenecks deployment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Existing solutions lack behavioral diversity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Zero observability into citation decision-making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743200" cy="1645920"/>
          </a:xfrm>
          <a:prstGeom prst="rect">
            <a:avLst/>
          </a:prstGeom>
          <a:solidFill>
            <a:srgbClr val="00F0FF">
              <a:alpha val="5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801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🤖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BEHAVIORAL AGENTS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Diverse verification strategies prevent groupthink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83280" y="1188720"/>
            <a:ext cx="2743200" cy="1645920"/>
          </a:xfrm>
          <a:prstGeom prst="rect">
            <a:avLst/>
          </a:prstGeom>
          <a:solidFill>
            <a:srgbClr val="00F0FF">
              <a:alpha val="5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0" y="12801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🎯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47472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CONSENSUS ALGORITHM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74720" y="21945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voting with reputation tracking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1188720"/>
            <a:ext cx="2743200" cy="1645920"/>
          </a:xfrm>
          <a:prstGeom prst="rect">
            <a:avLst/>
          </a:prstGeom>
          <a:solidFill>
            <a:srgbClr val="00F0FF">
              <a:alpha val="5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12801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🧠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0080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NESTED LEARNING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0" y="21945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Meta-learning from collective decisions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8229600" cy="1371600"/>
          </a:xfrm>
          <a:prstGeom prst="rect">
            <a:avLst/>
          </a:prstGeom>
          <a:solidFill>
            <a:srgbClr val="00F0FF">
              <a:alpha val="10000"/>
            </a:srgbClr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3832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PRODUCTION-READY PLATFORM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Kubernetes-native deployment with auto-scaling, distributed tracing, and enterprise security. Process 40+ citations/second with 99.9% uptime SLA.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RESULTS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86200" cy="1554480"/>
          </a:xfrm>
          <a:prstGeom prst="rect">
            <a:avLst/>
          </a:prstGeom>
          <a:solidFill>
            <a:srgbClr val="00FF88">
              <a:alpha val="8000"/>
            </a:srgbClr>
          </a:solidFill>
          <a:ln w="12700">
            <a:solidFill>
              <a:srgbClr val="00FF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0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2.8x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THROUGHPUT INCREASE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15 to 42 citations/second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00600" y="1188720"/>
            <a:ext cx="3886200" cy="1554480"/>
          </a:xfrm>
          <a:prstGeom prst="rect">
            <a:avLst/>
          </a:prstGeom>
          <a:solidFill>
            <a:srgbClr val="00FF88">
              <a:alpha val="8000"/>
            </a:srgbClr>
          </a:solidFill>
          <a:ln w="12700">
            <a:solidFill>
              <a:srgbClr val="00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1371600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63%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892040" y="192024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REDUCTION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92040" y="228600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$120 to $45/month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3886200" cy="1554480"/>
          </a:xfrm>
          <a:prstGeom prst="rect">
            <a:avLst/>
          </a:prstGeom>
          <a:solidFill>
            <a:srgbClr val="00FF88">
              <a:alpha val="8000"/>
            </a:srgbClr>
          </a:solidFill>
          <a:ln w="12700">
            <a:solidFill>
              <a:srgbClr val="00FF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200400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94%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548640" y="374904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CITATION ACCURACY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411480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consensus validation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00600" y="3017520"/>
            <a:ext cx="3886200" cy="1554480"/>
          </a:xfrm>
          <a:prstGeom prst="rect">
            <a:avLst/>
          </a:prstGeom>
          <a:solidFill>
            <a:srgbClr val="00FF88">
              <a:alpha val="8000"/>
            </a:srgbClr>
          </a:solidFill>
          <a:ln w="12700">
            <a:solidFill>
              <a:srgbClr val="00FF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92040" y="3200400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&lt;5min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892040" y="374904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MTTR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92040" y="411480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distributed tracing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560320" cy="914400"/>
          </a:xfrm>
          <a:prstGeom prst="rect">
            <a:avLst/>
          </a:prstGeom>
          <a:solidFill>
            <a:srgbClr val="00F0FF">
              <a:alpha val="7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188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Gateway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0" y="914400"/>
            <a:ext cx="2560320" cy="914400"/>
          </a:xfrm>
          <a:prstGeom prst="rect">
            <a:avLst/>
          </a:prstGeom>
          <a:solidFill>
            <a:srgbClr val="00F0FF">
              <a:alpha val="7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91840" y="1188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0" y="914400"/>
            <a:ext cx="2560320" cy="914400"/>
          </a:xfrm>
          <a:prstGeom prst="rect">
            <a:avLst/>
          </a:prstGeom>
          <a:solidFill>
            <a:srgbClr val="00F0FF">
              <a:alpha val="7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35040" y="1188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3931920" cy="914400"/>
          </a:xfrm>
          <a:prstGeom prst="rect">
            <a:avLst/>
          </a:prstGeom>
          <a:solidFill>
            <a:srgbClr val="00FF88">
              <a:alpha val="7000"/>
            </a:srgbClr>
          </a:solidFill>
          <a:ln w="12700">
            <a:solidFill>
              <a:srgbClr val="00FF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3774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Pods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0" y="2103120"/>
            <a:ext cx="3931920" cy="914400"/>
          </a:xfrm>
          <a:prstGeom prst="rect">
            <a:avLst/>
          </a:prstGeom>
          <a:solidFill>
            <a:srgbClr val="00FF88">
              <a:alpha val="7000"/>
            </a:srgbClr>
          </a:solidFill>
          <a:ln w="12700">
            <a:solidFill>
              <a:srgbClr val="00FF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774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Agent Workers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2560320" cy="914400"/>
          </a:xfrm>
          <a:prstGeom prst="rect">
            <a:avLst/>
          </a:prstGeom>
          <a:solidFill>
            <a:srgbClr val="00F0FF">
              <a:alpha val="7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566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0" y="3291840"/>
            <a:ext cx="2560320" cy="914400"/>
          </a:xfrm>
          <a:prstGeom prst="rect">
            <a:avLst/>
          </a:prstGeom>
          <a:solidFill>
            <a:srgbClr val="00F0FF">
              <a:alpha val="7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3566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Cluster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43600" y="3291840"/>
            <a:ext cx="2560320" cy="914400"/>
          </a:xfrm>
          <a:prstGeom prst="rect">
            <a:avLst/>
          </a:prstGeom>
          <a:solidFill>
            <a:srgbClr val="00F0FF">
              <a:alpha val="7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0" y="3566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GKE Infrastructure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IMPROVEMENTS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36576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Metric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After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Improvement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Metrics Cardinality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25,000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10,000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60% ↓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Redis Memory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OOM Daily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Stable 2GB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100% Fix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Citation Throughput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15/sec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42/sec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2.8x ↑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API Latency (P95)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450ms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180ms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60% ↓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Database Queries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O(n²)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O(1)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100x ↑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Platform Cost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$120/mo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$45/mo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63% ↓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Platform Health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7.5/10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10/10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Perfect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F0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AGENT DIVERSITY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743200" cy="731520"/>
          </a:xfrm>
          <a:prstGeom prst="rect">
            <a:avLst/>
          </a:prstGeom>
          <a:solidFill>
            <a:srgbClr val="00F0FF">
              <a:alpha val="7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1430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 Checker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383280" y="914400"/>
            <a:ext cx="2743200" cy="731520"/>
          </a:xfrm>
          <a:prstGeom prst="rect">
            <a:avLst/>
          </a:prstGeom>
          <a:solidFill>
            <a:srgbClr val="00F0FF">
              <a:alpha val="7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0" y="11430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Validator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309360" y="914400"/>
            <a:ext cx="2743200" cy="731520"/>
          </a:xfrm>
          <a:prstGeom prst="rect">
            <a:avLst/>
          </a:prstGeom>
          <a:solidFill>
            <a:srgbClr val="00F0FF">
              <a:alpha val="7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1430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Relevance Scorer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2743200" cy="731520"/>
          </a:xfrm>
          <a:prstGeom prst="rect">
            <a:avLst/>
          </a:prstGeom>
          <a:solidFill>
            <a:srgbClr val="00FF88">
              <a:alpha val="7000"/>
            </a:srgbClr>
          </a:solidFill>
          <a:ln w="12700">
            <a:solidFill>
              <a:srgbClr val="00FF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0574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Skeptic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1828800"/>
            <a:ext cx="2743200" cy="731520"/>
          </a:xfrm>
          <a:prstGeom prst="rect">
            <a:avLst/>
          </a:prstGeom>
          <a:solidFill>
            <a:srgbClr val="00FF88">
              <a:alpha val="7000"/>
            </a:srgbClr>
          </a:solidFill>
          <a:ln w="12700">
            <a:solidFill>
              <a:srgbClr val="00FF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0" y="20574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Devil's Advocate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1828800"/>
            <a:ext cx="2743200" cy="731520"/>
          </a:xfrm>
          <a:prstGeom prst="rect">
            <a:avLst/>
          </a:prstGeom>
          <a:solidFill>
            <a:srgbClr val="00FF88">
              <a:alpha val="7000"/>
            </a:srgbClr>
          </a:solidFill>
          <a:ln w="12700">
            <a:solidFill>
              <a:srgbClr val="00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0574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Synthesis Expert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2743200" cy="731520"/>
          </a:xfrm>
          <a:prstGeom prst="rect">
            <a:avLst/>
          </a:prstGeom>
          <a:solidFill>
            <a:srgbClr val="00F0FF">
              <a:alpha val="7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9718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Analyzer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83280" y="2743200"/>
            <a:ext cx="2743200" cy="731520"/>
          </a:xfrm>
          <a:prstGeom prst="rect">
            <a:avLst/>
          </a:prstGeom>
          <a:solidFill>
            <a:srgbClr val="00F0FF">
              <a:alpha val="7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29718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Authority Verifier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2743200"/>
            <a:ext cx="2743200" cy="731520"/>
          </a:xfrm>
          <a:prstGeom prst="rect">
            <a:avLst/>
          </a:prstGeom>
          <a:solidFill>
            <a:srgbClr val="00F0FF">
              <a:alpha val="7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29718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Validator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8229600" cy="1097280"/>
          </a:xfrm>
          <a:prstGeom prst="rect">
            <a:avLst/>
          </a:prstGeom>
          <a:solidFill>
            <a:srgbClr val="00F0FF">
              <a:alpha val="8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84048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Consensus Algorithm: Weighted voting with reputation tracking. Agents that consistently align with verified outcomes gain higher weight. Requires 6/9 agreement for high confidence.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ON INVESTMENT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Costs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(GKE): $85 → $30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(PostgreSQL): $25 → $10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(Redis): $10 → $5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Savings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651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Review: 160 hrs → 10 hrs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Response: 40 hrs → 2 hrs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0" y="1371600"/>
            <a:ext cx="3200400" cy="2286000"/>
          </a:xfrm>
          <a:prstGeom prst="rect">
            <a:avLst/>
          </a:prstGeom>
          <a:solidFill>
            <a:srgbClr val="00FF88">
              <a:alpha val="10000"/>
            </a:srgbClr>
          </a:solidFill>
          <a:ln w="25400">
            <a:solidFill>
              <a:srgbClr val="00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0" y="16459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$18,750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5577840" y="23774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SAVINGS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577840" y="2926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Payback: 2.3 months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PATH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743200" cy="1097280"/>
          </a:xfrm>
          <a:prstGeom prst="rect">
            <a:avLst/>
          </a:prstGeom>
          <a:solidFill>
            <a:srgbClr val="000000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Setup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 hour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83280" y="914400"/>
            <a:ext cx="2743200" cy="1097280"/>
          </a:xfrm>
          <a:prstGeom prst="rect">
            <a:avLst/>
          </a:prstGeom>
          <a:solidFill>
            <a:srgbClr val="000000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0" y="10058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383280" y="1371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Workers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383280" y="164592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hours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914400"/>
            <a:ext cx="2743200" cy="1097280"/>
          </a:xfrm>
          <a:prstGeom prst="rect">
            <a:avLst/>
          </a:prstGeom>
          <a:solidFill>
            <a:srgbClr val="000000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10058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309360" y="1371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Ready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64592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day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solidFill>
            <a:srgbClr val="00F0FF">
              <a:alpha val="5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3774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GraphQL Integration: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265176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mutation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analyzeCitation(input: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claim: "GPT-4 scores 86.4% on MMLU",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citation: "OpenAI, 2023"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confidence, consensus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agents { name, vote, reasoning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716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DEPLOY?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1828800" y="2286000"/>
            <a:ext cx="5486400" cy="1828800"/>
          </a:xfrm>
          <a:prstGeom prst="rect">
            <a:avLst/>
          </a:prstGeom>
          <a:solidFill>
            <a:srgbClr val="00FF88">
              <a:alpha val="7000"/>
            </a:srgbClr>
          </a:solidFill>
          <a:ln w="25400">
            <a:solidFill>
              <a:srgbClr val="00FF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103120" y="2560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Start with our free trial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Deploy in your infrastructure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103120" y="32918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See results in 24 hours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0" y="43891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 Demo: demo.marcus.ai    |    Technical Docs: docs.marcus.ai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AI Game Theory Simulation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MARCUS 3.2 Product Demo</dc:title>
  <dc:subject>MARCUS 3.2 - Enterprise Citation Integrity Platform</dc:subject>
  <dc:creator>MARCUS Platform Team</dc:creator>
  <cp:lastModifiedBy>MARCUS Platform Team</cp:lastModifiedBy>
  <cp:revision>1</cp:revision>
  <dcterms:created xsi:type="dcterms:W3CDTF">2025-11-22T23:12:10Z</dcterms:created>
  <dcterms:modified xsi:type="dcterms:W3CDTF">2025-11-22T23:12:10Z</dcterms:modified>
</cp:coreProperties>
</file>