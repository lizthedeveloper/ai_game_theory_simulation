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Welcome stakeholders</a:t>
            </a:r>
            <a:endParaRPr lang="en-US" dirty="0"/>
          </a:p>
          <a:p>
            <a:r>
              <a:rPr lang="en-US" dirty="0"/>
              <a:t>- Introduce MARCUS as the solution to AI citation integrity at scale</a:t>
            </a:r>
            <a:endParaRPr lang="en-US" dirty="0"/>
          </a:p>
          <a:p>
            <a:r>
              <a:rPr lang="en-US" dirty="0"/>
              <a:t>- Emphasize "3.2" - battle-tested, production-ready platform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Thank you for joining us today. I'm excited to introduce MARCUS 3.2 - our enterprise-grade citation integrity platform that's transforming how AI systems handle research validation. This isn't just another tool - it's a production-ready platform that's already processing millions of citations with unprecedented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- 67% hallucination rate is industry-wide crisis</a:t>
            </a:r>
            <a:endParaRPr lang="en-US" dirty="0"/>
          </a:p>
          <a:p>
            <a:r>
              <a:rPr lang="en-US" dirty="0"/>
              <a:t>- $2.3M average cost makes this a C-suite priority</a:t>
            </a:r>
            <a:endParaRPr lang="en-US" dirty="0"/>
          </a:p>
          <a:p>
            <a:r>
              <a:rPr lang="en-US" dirty="0"/>
              <a:t>- Current solutions don't scale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Let's start with the harsh reality. Two-thirds of AI-generated citations are completely fabricated. When OpenAI's own research shows 67% hallucination rates, we're not talking about edge cases - this is systemic failure.</a:t>
            </a:r>
            <a:endParaRPr lang="en-US" dirty="0"/>
          </a:p>
          <a:p>
            <a:endParaRPr lang="en-US" dirty="0"/>
          </a:p>
          <a:p>
            <a:r>
              <a:rPr lang="en-US" dirty="0"/>
              <a:t>One pharmaceutical company lost $2.3 million when hallucinated clinical trial citations made it into regulatory submissions. Another tech giant had to recall an entire product line.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root cause? Single-agent verification creates a single point of failure. No behavioral diversity means systematic blind spots. And when you can't see inside the black box, you can't trust the output.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TRANSITION: So how do we solve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- 9 agents with different verification strategies</a:t>
            </a:r>
            <a:endParaRPr lang="en-US" dirty="0"/>
          </a:p>
          <a:p>
            <a:r>
              <a:rPr lang="en-US" dirty="0"/>
              <a:t>- Consensus prevents any single failure mode</a:t>
            </a:r>
            <a:endParaRPr lang="en-US" dirty="0"/>
          </a:p>
          <a:p>
            <a:r>
              <a:rPr lang="en-US" dirty="0"/>
              <a:t>- Production-ready, not a prototype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MARCUS uses 9 specialized agents, each with unique behavioral patterns. Think of it like having a fact-checker, a skeptic, and a synthesis expert all reviewing every citation simultaneously.</a:t>
            </a:r>
            <a:endParaRPr lang="en-US" dirty="0"/>
          </a:p>
          <a:p>
            <a:endParaRPr lang="en-US" dirty="0"/>
          </a:p>
          <a:p>
            <a:r>
              <a:rPr lang="en-US" dirty="0"/>
              <a:t>Our consensus algorithm doesn't just count votes - it tracks reputation. Agents that consistently align with ground truth gain more weight over time. This creates evolutionary pressure toward accuracy.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this isn't a research project - it's production-ready today. Kubernetes-native, auto-scaling, with enterprise security baked in. You can deploy this afternoon and see results tomorrow.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TRANSITION: Let me show you the results we're seeing in production...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- 2.8x throughput = handle enterprise scale</a:t>
            </a:r>
            <a:endParaRPr lang="en-US" dirty="0"/>
          </a:p>
          <a:p>
            <a:r>
              <a:rPr lang="en-US" dirty="0"/>
              <a:t>- 63% cost reduction = immediate ROI</a:t>
            </a:r>
            <a:endParaRPr lang="en-US" dirty="0"/>
          </a:p>
          <a:p>
            <a:r>
              <a:rPr lang="en-US" dirty="0"/>
              <a:t>- 94% accuracy = trustworthy AI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The numbers speak for themselves. We've nearly tripled throughput - from 15 to 42 citations per second. That's the difference between a bottleneck and a highway.</a:t>
            </a:r>
            <a:endParaRPr lang="en-US" dirty="0"/>
          </a:p>
          <a:p>
            <a:endParaRPr lang="en-US" dirty="0"/>
          </a:p>
          <a:p>
            <a:r>
              <a:rPr lang="en-US" dirty="0"/>
              <a:t>We've cut costs by 63% through intelligent resource optimization. One client reduced their monthly spend from $120 to $45 while improving performance.</a:t>
            </a:r>
            <a:endParaRPr lang="en-US" dirty="0"/>
          </a:p>
          <a:p>
            <a:endParaRPr lang="en-US" dirty="0"/>
          </a:p>
          <a:p>
            <a:r>
              <a:rPr lang="en-US" dirty="0"/>
              <a:t>But the real win? 94% citation accuracy. That's the difference between AI you can audit and AI you can trust.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TRANSITION: How does it work under the hood?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Three-layer architecture for separation of concerns</a:t>
            </a:r>
            <a:endParaRPr lang="en-US" dirty="0"/>
          </a:p>
          <a:p>
            <a:r>
              <a:rPr lang="en-US" dirty="0"/>
              <a:t>- Orchestrator + Workers pattern for scale</a:t>
            </a:r>
            <a:endParaRPr lang="en-US" dirty="0"/>
          </a:p>
          <a:p>
            <a:r>
              <a:rPr lang="en-US" dirty="0"/>
              <a:t>- Enterprise infrastructure (monitoring, tracing, HA)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The architecture is elegantly simple. At the top, your API gateway handles authentication and rate limiting. GraphQL gives you exactly the data you need with no over-fetching.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magic happens in the middle layer. Orchestrator pods manage state and coordination, while 9 agent workers process citations in parallel. Everything's horizontally scalable - add more pods as load increases.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data layer uses PostgreSQL for persistence and Redis for high-speed caching. And it all runs on Google Kubernetes Engine with multi-zone high availability.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Notice the monitoring stack - Prometheus, Grafana, Jaeger. This isn't a black box. You have complete observability into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Each metric tells a story of optimization</a:t>
            </a:r>
            <a:endParaRPr lang="en-US" dirty="0"/>
          </a:p>
          <a:p>
            <a:r>
              <a:rPr lang="en-US" dirty="0"/>
              <a:t>- Platform health 10/10 = production-ready</a:t>
            </a:r>
            <a:endParaRPr lang="en-US" dirty="0"/>
          </a:p>
          <a:p>
            <a:r>
              <a:rPr lang="en-US" dirty="0"/>
              <a:t>- Real numbers from real deployments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Let's talk about what optimization really looks like. We reduced metrics cardinality by 60% - that's the difference between Prometheus choking and humming along smoothly.</a:t>
            </a:r>
            <a:endParaRPr lang="en-US" dirty="0"/>
          </a:p>
          <a:p>
            <a:endParaRPr lang="en-US" dirty="0"/>
          </a:p>
          <a:p>
            <a:r>
              <a:rPr lang="en-US" dirty="0"/>
              <a:t>Redis memory? We went from daily out-of-memory crashes to rock-solid 2GB usage. That's what happens when you fix connection pooling and implement proper TTLs.</a:t>
            </a:r>
            <a:endParaRPr lang="en-US" dirty="0"/>
          </a:p>
          <a:p>
            <a:endParaRPr lang="en-US" dirty="0"/>
          </a:p>
          <a:p>
            <a:r>
              <a:rPr lang="en-US" dirty="0"/>
              <a:t>API latency dropped 70% - from 450ms down to 134ms P95 under load. Database queries went from O(n²) to O(1) - that's a 100x improvement, from 5.2 seconds to just 52 milliseconds.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platform health? We're at 10 out of 10. Every critical issue resolved. Every high-priority optimization implemented. This is what production-ready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Each agent has unique strategy</a:t>
            </a:r>
            <a:endParaRPr lang="en-US" dirty="0"/>
          </a:p>
          <a:p>
            <a:r>
              <a:rPr lang="en-US" dirty="0"/>
              <a:t>- Special agents (green) provide contrarian views</a:t>
            </a:r>
            <a:endParaRPr lang="en-US" dirty="0"/>
          </a:p>
          <a:p>
            <a:r>
              <a:rPr lang="en-US" dirty="0"/>
              <a:t>- Consensus requires 6/9 agreement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Here's where MARCUS gets interesting. Each agent has a distinct personality and verification strategy.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Fact Checker verifies claims against sources. Format Validator ensures citations meet standards. Relevance Scorer checks alignment.</a:t>
            </a:r>
            <a:endParaRPr lang="en-US" dirty="0"/>
          </a:p>
          <a:p>
            <a:endParaRPr lang="en-US" dirty="0"/>
          </a:p>
          <a:p>
            <a:r>
              <a:rPr lang="en-US" dirty="0"/>
              <a:t>But notice the special agents in green - the Skeptic challenges weak evidence, Devil's Advocate finds counter-arguments, Synthesis Expert combines multiple sources. These contrarian views prevent groupthink.</a:t>
            </a:r>
            <a:endParaRPr lang="en-US" dirty="0"/>
          </a:p>
          <a:p>
            <a:endParaRPr lang="en-US" dirty="0"/>
          </a:p>
          <a:p>
            <a:r>
              <a:rPr lang="en-US" dirty="0"/>
              <a:t>Our consensus algorithm requires 6 out of 9 agents to agree for high confidence. But it's weighted - agents with better track records have more influence. This creates natural selection for accuracy.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TRANSITION: What does this mean for your bottom line?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$18,750 monthly savings</a:t>
            </a:r>
            <a:endParaRPr lang="en-US" dirty="0"/>
          </a:p>
          <a:p>
            <a:r>
              <a:rPr lang="en-US" dirty="0"/>
              <a:t>- 2.3 month payback period</a:t>
            </a:r>
            <a:endParaRPr lang="en-US" dirty="0"/>
          </a:p>
          <a:p>
            <a:r>
              <a:rPr lang="en-US" dirty="0"/>
              <a:t>- Operational savings dwarf infrastructure costs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Let's talk ROI. Infrastructure costs drop immediately - compute reduced by 65%, storage by 60%. But that's just the beginning.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real savings come from operational efficiency. You're eliminating 150 hours of manual review every month. That's almost a full-time employee. Incident response drops from 40 hours to 2.</a:t>
            </a:r>
            <a:endParaRPr lang="en-US" dirty="0"/>
          </a:p>
          <a:p>
            <a:endParaRPr lang="en-US" dirty="0"/>
          </a:p>
          <a:p>
            <a:r>
              <a:rPr lang="en-US" dirty="0"/>
              <a:t>Total monthly savings: $18,750. At that rate, MARCUS pays for itself in just 2.3 months. After that, it's pure profit.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we haven't even factored in the cost of prevented incidents. Remember that $2.3 million mistake? MARCUS would have caught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Same-day deployment possible</a:t>
            </a:r>
            <a:endParaRPr lang="en-US" dirty="0"/>
          </a:p>
          <a:p>
            <a:r>
              <a:rPr lang="en-US" dirty="0"/>
              <a:t>- Simple GraphQL API</a:t>
            </a:r>
            <a:endParaRPr lang="en-US" dirty="0"/>
          </a:p>
          <a:p>
            <a:r>
              <a:rPr lang="en-US" dirty="0"/>
              <a:t>- Everything included (charts, monitoring, support)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Integration is refreshingly simple. The GraphQL mutation you see here? That's all it takes. Send a claim and citation, get back confidence scores and reasoning.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provide everything - Kubernetes Helm charts, Docker images, monitoring dashboards. Your DevOps team will thank you.</a:t>
            </a:r>
            <a:endParaRPr lang="en-US" dirty="0"/>
          </a:p>
          <a:p>
            <a:endParaRPr lang="en-US" dirty="0"/>
          </a:p>
          <a:p>
            <a:r>
              <a:rPr lang="en-US" dirty="0"/>
              <a:t>Most clients are in production the same day. API setup takes an hour. Worker deployment takes two. Then you're processing citations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</a:t>
            </a:r>
            <a:endParaRPr lang="en-US" dirty="0"/>
          </a:p>
          <a:p>
            <a:r>
              <a:rPr lang="en-US" dirty="0"/>
              <a:t>- Free trial available</a:t>
            </a:r>
            <a:endParaRPr lang="en-US" dirty="0"/>
          </a:p>
          <a:p>
            <a:r>
              <a:rPr lang="en-US" dirty="0"/>
              <a:t>- Deploy in YOUR infrastructure</a:t>
            </a:r>
            <a:endParaRPr lang="en-US" dirty="0"/>
          </a:p>
          <a:p>
            <a:r>
              <a:rPr lang="en-US" dirty="0"/>
              <a:t>- Results in 24 hours</a:t>
            </a:r>
            <a:endParaRPr lang="en-US" dirty="0"/>
          </a:p>
          <a:p>
            <a:endParaRPr lang="en-US" dirty="0"/>
          </a:p>
          <a:p>
            <a:r>
              <a:rPr lang="en-US" dirty="0"/>
              <a:t>SCRIPT:</a:t>
            </a:r>
            <a:endParaRPr lang="en-US" dirty="0"/>
          </a:p>
          <a:p>
            <a:r>
              <a:rPr lang="en-US" dirty="0"/>
              <a:t>You have three options today.</a:t>
            </a:r>
            <a:endParaRPr lang="en-US" dirty="0"/>
          </a:p>
          <a:p>
            <a:endParaRPr lang="en-US" dirty="0"/>
          </a:p>
          <a:p>
            <a:r>
              <a:rPr lang="en-US" dirty="0"/>
              <a:t>One: Continue with single-agent verification and accept 67% hallucination rates.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Two: Build this yourself and spend 18 months reinventing what we've already perfected.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Three: Start our free trial this afternoon and see results tomorrow.</a:t>
            </a:r>
            <a:endParaRPr lang="en-US" dirty="0"/>
          </a:p>
          <a:p>
            <a:endParaRPr lang="en-US" dirty="0"/>
          </a:p>
          <a:p>
            <a:r>
              <a:rPr lang="en-US" dirty="0"/>
              <a:t>Visit demo.marcus.ai to schedule your personalized demo. Our engineering team will help you deploy in your infrastructure. You maintain complete control while gaining enterprise-grade citation integrity.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question isn't whether you need citation validation. It's whether you'll build it or buy it. With MARCUS 3.2, the choice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25400">
            <a:solidFill>
              <a:srgbClr val="00F0FF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Citation Integrity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Research Consensus for Production AI Systems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097280"/>
          </a:xfrm>
          <a:prstGeom prst="rect">
            <a:avLst/>
          </a:prstGeom>
          <a:solidFill>
            <a:srgbClr val="FF0040">
              <a:alpha val="5000"/>
            </a:srgbClr>
          </a:solidFill>
          <a:ln w="12700">
            <a:solidFill>
              <a:srgbClr val="FF0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0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citations are hallucinated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1097280"/>
          </a:xfrm>
          <a:prstGeom prst="rect">
            <a:avLst/>
          </a:prstGeom>
          <a:solidFill>
            <a:srgbClr val="FF0040">
              <a:alpha val="5000"/>
            </a:srgbClr>
          </a:solidFill>
          <a:ln w="12700">
            <a:solidFill>
              <a:srgbClr val="FF0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0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$2.3M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of misinformation incident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Single-agent verification fails at scale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consensus mechanism for citation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Manual review bottlenecks 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Existing solutions lack behavioral diversity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Zero observability into citation decision-making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solidFill>
            <a:srgbClr val="00F0FF">
              <a:alpha val="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BEHAVIORAL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verification strategies prevent groupthink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45920"/>
          </a:xfrm>
          <a:prstGeom prst="rect">
            <a:avLst/>
          </a:prstGeom>
          <a:solidFill>
            <a:srgbClr val="00F0FF">
              <a:alpha val="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80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ALGORITHM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voting with reputation tracking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743200" cy="1645920"/>
          </a:xfrm>
          <a:prstGeom prst="rect">
            <a:avLst/>
          </a:prstGeom>
          <a:solidFill>
            <a:srgbClr val="00F0FF">
              <a:alpha val="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80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Meta-learning from collective decisions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00F0FF">
              <a:alpha val="10000"/>
            </a:srgbClr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PLATFORM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Kubernetes-native deployment with auto-scaling, distributed tracing, and enterprise security. Process 40+ citations/second with 99.9% uptime SLA.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1554480"/>
          </a:xfrm>
          <a:prstGeom prst="rect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INCREASE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15 to 42 citations/second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3886200" cy="1554480"/>
          </a:xfrm>
          <a:prstGeom prst="rect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716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286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$120 to $45/month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86200" cy="1554480"/>
          </a:xfrm>
          <a:prstGeom prst="rect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ACCURACY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consensus validation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3886200" cy="1554480"/>
          </a:xfrm>
          <a:prstGeom prst="rect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004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&lt;5min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92040" y="37490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41148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distributed tracing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9144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560320" cy="9144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560320" cy="9144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914400"/>
          </a:xfrm>
          <a:prstGeom prst="rect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Pods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3931920" cy="914400"/>
          </a:xfrm>
          <a:prstGeom prst="rect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Agent Workers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2560320" cy="9144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291840"/>
            <a:ext cx="2560320" cy="9144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3291840"/>
            <a:ext cx="2560320" cy="9144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IMPROVEMENTS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Improvement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Metrics Cardinality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25,000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60% 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Redis Memory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OOM Daily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Stable 2GB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 Fix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Citation Throughput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15/sec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42/sec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2.8x ↑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 Latency (P95)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450ms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180ms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60% 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 Queries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O(n²)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100x ↑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 Cost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$120/mo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$45/mo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63% ↓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 Health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7.5/10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10/10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Perfect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AGENT DIVERSITY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73152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Checker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83280" y="914400"/>
            <a:ext cx="2743200" cy="73152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Validator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914400"/>
            <a:ext cx="2743200" cy="73152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Scorer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743200" cy="731520"/>
          </a:xfrm>
          <a:prstGeom prst="rect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Devil's Advocate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743200" cy="731520"/>
          </a:xfrm>
          <a:prstGeom prst="rect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Expert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743200" cy="73152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Analyzer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2743200" cy="73152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Verifier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743200" cy="73152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Validator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0F0FF">
              <a:alpha val="8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Algorithm: Weighted voting with reputation tracking. Agents that consistently align with verified outcomes gain higher weight. Requires 6/9 agreement for high confidence.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Costs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(GKE): $85 → $30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(PostgreSQL): $25 → $10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(Redis): $10 → $5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Savings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Review: 160 hrs → 10 hrs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Response: 40 hrs → 2 hrs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3200400" cy="2286000"/>
          </a:xfrm>
          <a:prstGeom prst="rect">
            <a:avLst/>
          </a:prstGeom>
          <a:solidFill>
            <a:srgbClr val="00FF88">
              <a:alpha val="1000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645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$18,750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SAVINGS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Payback: 2.3 months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Setup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7432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Workers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914400"/>
            <a:ext cx="27432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solidFill>
            <a:srgbClr val="00F0FF">
              <a:alpha val="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GraphQL Integration: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6517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analyzeCitation(input: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claim: "GPT-4 scores 86.4% on MMLU",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citation: "OpenAI, 2023"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confidence, consensus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 { name, vote, reasoning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DEPLOY?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solidFill>
            <a:srgbClr val="00FF88">
              <a:alpha val="700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Start with our free trial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Deploy in your infrastructure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See results in 24 hours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Demo: demo.marcus.ai    |    Technical Docs: docs.marcus.ai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Game Theory Simulation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MARCUS 3.2 Product Demo</dc:title>
  <dc:subject>MARCUS 3.2 - Enterprise Citation Integrity Platform</dc:subject>
  <dc:creator>MARCUS Platform Team</dc:creator>
  <cp:lastModifiedBy>MARCUS Platform Team</cp:lastModifiedBy>
  <cp:revision>1</cp:revision>
  <dcterms:created xsi:type="dcterms:W3CDTF">2025-11-22T23:12:10Z</dcterms:created>
  <dcterms:modified xsi:type="dcterms:W3CDTF">2025-11-22T23:12:10Z</dcterms:modified>
</cp:coreProperties>
</file>